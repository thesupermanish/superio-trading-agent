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4c7835fdbd40d2" /><Relationship Type="http://schemas.openxmlformats.org/officeDocument/2006/relationships/extended-properties" Target="/docProps/app.xml" Id="R1cd227473d53403e" /><Relationship Type="http://schemas.openxmlformats.org/officeDocument/2006/relationships/officeDocument" Target="/ppt/presentation.xml" Id="R1b279160c2b547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d3485be27a4d97"/>
  </p:sldMasterIdLst>
  <p:notesMasterIdLst>
    <p:notesMasterId xmlns:r="http://schemas.openxmlformats.org/officeDocument/2006/relationships" r:id="Rd46169f7d41e4c5b"/>
  </p:notesMasterIdLst>
  <p:sldIdLst>
    <p:sldId xmlns:r="http://schemas.openxmlformats.org/officeDocument/2006/relationships" id="256" r:id="R78f4d63cf9bd4e1e"/>
    <p:sldId xmlns:r="http://schemas.openxmlformats.org/officeDocument/2006/relationships" id="257" r:id="R5b8478c1d26d44b5"/>
    <p:sldId xmlns:r="http://schemas.openxmlformats.org/officeDocument/2006/relationships" id="258" r:id="R366533d082494a49"/>
    <p:sldId xmlns:r="http://schemas.openxmlformats.org/officeDocument/2006/relationships" id="259" r:id="Rc4ea58530e004f8e"/>
    <p:sldId xmlns:r="http://schemas.openxmlformats.org/officeDocument/2006/relationships" id="260" r:id="R3be8a1c98b574995"/>
    <p:sldId xmlns:r="http://schemas.openxmlformats.org/officeDocument/2006/relationships" id="261" r:id="Ra11ee369166a41db"/>
    <p:sldId xmlns:r="http://schemas.openxmlformats.org/officeDocument/2006/relationships" id="262" r:id="Rfab2861cf4814e22"/>
    <p:sldId xmlns:r="http://schemas.openxmlformats.org/officeDocument/2006/relationships" id="263" r:id="R7fd3e9d31e674aac"/>
    <p:sldId xmlns:r="http://schemas.openxmlformats.org/officeDocument/2006/relationships" id="264" r:id="R5bcc753cc29145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ab3039c1fe4652" /><Relationship Type="http://schemas.openxmlformats.org/officeDocument/2006/relationships/slideMaster" Target="/ppt/slideMasters/slideMaster1.xml" Id="R7bd3485be27a4d97" /><Relationship Type="http://schemas.openxmlformats.org/officeDocument/2006/relationships/notesMaster" Target="/ppt/notesMasters/notesMaster1.xml" Id="Rd46169f7d41e4c5b" /><Relationship Type="http://schemas.openxmlformats.org/officeDocument/2006/relationships/presProps" Target="/ppt/presProps.xml" Id="Rde8e1ec3cbb9458b" /><Relationship Type="http://schemas.openxmlformats.org/officeDocument/2006/relationships/tableStyles" Target="/ppt/tableStyles.xml" Id="Rd1a36d908b854fb8" /><Relationship Type="http://schemas.openxmlformats.org/officeDocument/2006/relationships/slide" Target="/ppt/slides/slide1.xml" Id="R78f4d63cf9bd4e1e" /><Relationship Type="http://schemas.openxmlformats.org/officeDocument/2006/relationships/slide" Target="/ppt/slides/slide2.xml" Id="R5b8478c1d26d44b5" /><Relationship Type="http://schemas.openxmlformats.org/officeDocument/2006/relationships/slide" Target="/ppt/slides/slide3.xml" Id="R366533d082494a49" /><Relationship Type="http://schemas.openxmlformats.org/officeDocument/2006/relationships/slide" Target="/ppt/slides/slide4.xml" Id="Rc4ea58530e004f8e" /><Relationship Type="http://schemas.openxmlformats.org/officeDocument/2006/relationships/slide" Target="/ppt/slides/slide5.xml" Id="R3be8a1c98b574995" /><Relationship Type="http://schemas.openxmlformats.org/officeDocument/2006/relationships/slide" Target="/ppt/slides/slide6.xml" Id="Ra11ee369166a41db" /><Relationship Type="http://schemas.openxmlformats.org/officeDocument/2006/relationships/slide" Target="/ppt/slides/slide7.xml" Id="Rfab2861cf4814e22" /><Relationship Type="http://schemas.openxmlformats.org/officeDocument/2006/relationships/slide" Target="/ppt/slides/slide8.xml" Id="R7fd3e9d31e674aac" /><Relationship Type="http://schemas.openxmlformats.org/officeDocument/2006/relationships/slide" Target="/ppt/slides/slide9.xml" Id="R5bcc753cc29145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e08aeaf0f740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106f2f27174394" /><Relationship Type="http://schemas.openxmlformats.org/officeDocument/2006/relationships/notesMaster" Target="/ppt/notesMasters/notesMaster1.xml" Id="R1d8e36fc440c45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87d375a441477d" /><Relationship Type="http://schemas.openxmlformats.org/officeDocument/2006/relationships/notesMaster" Target="/ppt/notesMasters/notesMaster1.xml" Id="Rc2d5a4bfa13446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46a346577f4bf1" /><Relationship Type="http://schemas.openxmlformats.org/officeDocument/2006/relationships/notesMaster" Target="/ppt/notesMasters/notesMaster1.xml" Id="Reb810708a01d4d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8cb43050e84d90" /><Relationship Type="http://schemas.openxmlformats.org/officeDocument/2006/relationships/notesMaster" Target="/ppt/notesMasters/notesMaster1.xml" Id="Rb05cfe3835314b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02fcf7133c4191" /><Relationship Type="http://schemas.openxmlformats.org/officeDocument/2006/relationships/notesMaster" Target="/ppt/notesMasters/notesMaster1.xml" Id="Re31265f0359a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7acaaccc2347ea" /><Relationship Type="http://schemas.openxmlformats.org/officeDocument/2006/relationships/notesMaster" Target="/ppt/notesMasters/notesMaster1.xml" Id="R5bef1f4d71da4e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71ec024d174dec" /><Relationship Type="http://schemas.openxmlformats.org/officeDocument/2006/relationships/notesMaster" Target="/ppt/notesMasters/notesMaster1.xml" Id="R75c66481c58b42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054ab1f7ca44b2" /><Relationship Type="http://schemas.openxmlformats.org/officeDocument/2006/relationships/notesMaster" Target="/ppt/notesMasters/notesMaster1.xml" Id="R68af5b831a864e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25b92ffbde4517" /><Relationship Type="http://schemas.openxmlformats.org/officeDocument/2006/relationships/notesMaster" Target="/ppt/notesMasters/notesMaster1.xml" Id="Rbe7b5adadbd949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README.md, engine/config.py, and dashboard/public/snapshot*.json. This project uses Alpaca paper accounts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rationale and system thesis are documented in README.md and docs/WRITEUP.md.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README.md. Model routing source: engine/llm.py. Execution and management source: engine/executor.py and engine/manager.py.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strategist's tool loop and bounded output are described in README.md and docs/WRITEUP.md. Candidate construction and gate evaluation live in engine/structures.py and engine/risk.py.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limits verified from engine/config.py on 4 September 2026. Gate implementation source: engine/risk.py. All values refer to Alpaca paper trading.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Profiles and strategy variants are documented in README.md. Universe and sleeve configuration source: engine/config.py.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values come from the live dashboard screenshot captured at 10:18 ET on 4 September 2026. Test2 and test3 returns come from dashboard/public/snapshot-test2.json and snapshot-test3.json. Percent figures are displayed as percentage points, not decimal fractions. Paper trading results are not live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screenshot captured from the locally served current build on 4 September 2026. Public mirror: https://thesupermanish.github.io/superio-trading-agent/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https://github.com/TheSupermanish/superio-trading-agent. Public demo: https://thesupermanish.github.io/superio-trading-agent/. All performance shown in this deck comes from paper accounts over a short hackathon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b090b2e464a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b10e906a784cdb" /><Relationship Type="http://schemas.openxmlformats.org/officeDocument/2006/relationships/slideLayout" Target="/ppt/slideLayouts/slideLayout1.xml" Id="R443d45b196f14e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3d45b196f14e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32a5abeec4d68" /><Relationship Type="http://schemas.openxmlformats.org/officeDocument/2006/relationships/image" Target="/ppt/media/image.jpeg" Id="Rfe52b66663fa4f2c" /><Relationship Type="http://schemas.openxmlformats.org/officeDocument/2006/relationships/notesSlide" Target="/ppt/notesSlides/notesSlide1.xml" Id="R26b7a7bff9cf43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782fda80d458f" /><Relationship Type="http://schemas.openxmlformats.org/officeDocument/2006/relationships/notesSlide" Target="/ppt/notesSlides/notesSlide2.xml" Id="Rce294a4e9885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090a352ee4206" /><Relationship Type="http://schemas.openxmlformats.org/officeDocument/2006/relationships/notesSlide" Target="/ppt/notesSlides/notesSlide3.xml" Id="Reb27fb92267644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d9ff88e644701" /><Relationship Type="http://schemas.openxmlformats.org/officeDocument/2006/relationships/notesSlide" Target="/ppt/notesSlides/notesSlide4.xml" Id="Rda33ed2c5c4043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16bccc177458e" /><Relationship Type="http://schemas.openxmlformats.org/officeDocument/2006/relationships/notesSlide" Target="/ppt/notesSlides/notesSlide5.xml" Id="R8a423a5a55b849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1fd857d5d4cfb" /><Relationship Type="http://schemas.openxmlformats.org/officeDocument/2006/relationships/notesSlide" Target="/ppt/notesSlides/notesSlide6.xml" Id="R747e4ae4b83b48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e6ee974b64dfe" /><Relationship Type="http://schemas.openxmlformats.org/officeDocument/2006/relationships/chart" Target="/ppt/slides/charts/chart1.xml" Id="R285b35a64c05481e" /><Relationship Type="http://schemas.openxmlformats.org/officeDocument/2006/relationships/notesSlide" Target="/ppt/notesSlides/notesSlide7.xml" Id="R21d9cc44939547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a99f31c74459e" /><Relationship Type="http://schemas.openxmlformats.org/officeDocument/2006/relationships/image" Target="/ppt/media/image.png" Id="R5198d845623a447f" /><Relationship Type="http://schemas.openxmlformats.org/officeDocument/2006/relationships/notesSlide" Target="/ppt/notesSlides/notesSlide8.xml" Id="Re8ef1782cf1948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72d9e29734daf" /><Relationship Type="http://schemas.openxmlformats.org/officeDocument/2006/relationships/notesSlide" Target="/ppt/notesSlides/notesSlide9.xml" Id="Rbd547294cff04d5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Return</c:v>
          </c:tx>
          <c:spPr>
            <a:solidFill xmlns:a="http://schemas.openxmlformats.org/drawingml/2006/main">
              <a:srgbClr val="FFBF1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6D9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A7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617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Barbell</c:v>
                </c:pt>
                <c:pt idx="1">
                  <c:v>Convex tilt</c:v>
                </c:pt>
                <c:pt idx="2">
                  <c:v>Income only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0.0145</c:v>
                </c:pt>
                <c:pt idx="1">
                  <c:v>0.0079</c:v>
                </c:pt>
                <c:pt idx="2">
                  <c:v>-0.0064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0B10"/>
        </a:solidFill>
        <a:ln xmlns:a="http://schemas.openxmlformats.org/drawingml/2006/main" w="9525">
          <a:solidFill>
            <a:srgbClr val="202938"/>
          </a:solidFill>
        </a:ln>
      </c:spPr>
    </c:plotArea>
    <c:plotVisOnly val="1"/>
  </c:chart>
  <c:spPr>
    <a:solidFill xmlns:a="http://schemas.openxmlformats.org/drawingml/2006/main">
      <a:srgbClr val="090B10"/>
    </a:solidFill>
    <a:ln xmlns:a="http://schemas.openxmlformats.org/drawingml/2006/main" w="9525">
      <a:solidFill>
        <a:srgbClr val="202938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6D556-8AB1-48B7-8606-7D6C0A90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CEA8A-BA99-4FDE-AF02-F9C6BFCF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86742-88A6-4811-8149-F8F5A060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ALPACA AI TRADING AGENTS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78FFD-1F18-4DF9-901C-B9251C7A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9E24E-C672-461B-9A30-19749544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Autonomous options trading with deterministic risk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A23DF-7872-4280-947D-7BCC73CD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Gemini reads the market and selects an approved structure. Code controls every leg, size, limit, and exit.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2b66663fa4f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1123950"/>
            <a:ext cx="2381250" cy="2381250"/>
          </a:xfrm>
          <a:prstGeom xmlns:a="http://schemas.openxmlformats.org/drawingml/2006/main" prst="ellipse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DBA4E-1B3C-428C-ADB8-9A1DD0B1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14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CBC4A-3813-4945-B2CF-ABC82FB6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67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PAPER TRADING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1DCCC-5CE1-48F3-ABC3-E6C901F7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Nine ETFs across three independently managed paper accounts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E8AF3-E680-4847-85B2-51C04CC2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495228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805E8-04D7-4569-8222-324242A8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76759-ED4D-4040-87BC-AED3E25C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E627A-1E0D-4DA3-80E2-C0EE87EE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E197C-BE4E-4094-B441-B713151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Models can read markets. Limits need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3D629-5669-4A48-B17A-F0D7A7CF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 useful trading agent must reason under uncertainty without gaining authority over the account's safety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1F125-E6CF-40D0-BB4F-5FFFE7FB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273E9-6A02-4580-8742-E22A4A73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AI IS GOOD 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FF753-EB8C-4BAF-96DD-70FB8CDC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Reading regime and 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8CC2D-E12B-4136-95C9-F077CF0A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Interpreting news and catalysts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58A11-1CB3-46E8-8E33-985A09DD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Comparing strategy tradeoffs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55462-99E2-4BCA-8F50-A88B6A6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99D70-3B3E-469F-83D0-45593DDD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CODE MUST 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52974-7D54-478A-AD1C-04E12149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 and maximum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29C02-CC93-4AF1-A86F-B69175A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 and event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B1B5A-C9BE-40EB-A72F-18DB206C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Orders, exits, and kill switches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44583-46D7-413D-801D-C0C984A5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Alphaca separates judgment from authority.</a:t>
            </a:r>
          </a:p>
        </p:txBody>
      </p:sp>
    </p:spTree>
    <p:extLst>
      <p:ext uri="{BB962C8B-B14F-4D97-AF65-F5344CB8AC3E}">
        <p14:creationId xmlns:p14="http://schemas.microsoft.com/office/powerpoint/2010/main" val="21034004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D4D3AD-5C27-419C-B18C-DD03696B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F3626-B84D-497A-8B81-B58BF342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3DD09-D329-4DB2-B1F6-B750FE44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1B8E2-63F7-47CB-9278-1BBBB7CE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Six roles turn market data into a managed 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880AC-2484-41D4-90F4-3633840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99D40-C659-49E3-ACE4-C4144D2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53246-293D-42DE-8EEC-BB7B305A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002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Scout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79FA8-ABB3-4622-B673-3E5FDC99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Measures trend, realized volatility, implied volatility, and their spread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706A9-76AB-4313-BD38-FFDB8911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E45D6-B103-40CF-92B2-F87BD1E6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C0301-9390-4B4B-A479-1CE640F8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050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Analyst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C2E31-402E-44B9-B7BE-664800B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Uses Gemini with search grounding to capture news and scheduled catalysts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CF4D5-E4AC-48A2-A748-20BDEFB7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B1617-EE48-4355-9FD1-6D644A33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5C684-80B9-4530-B834-E9D665C4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9498A-9AC1-4DC1-93C5-96879DAF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Compares approved structures and returns a proposal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01264-0A9A-4D3E-89F3-975C9DC8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FBB79-9714-43B1-BD78-4E410092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386D6-09B6-4782-8960-3581B874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147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Risk officer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5FAF5-219C-4820-B1BD-750FF6E8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Applies deterministic gates and computes a safe quantity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754A4-5295-47B3-8004-3BCA1ABE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8FD6A-2AEC-4FF3-95F9-AA052868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8415A-85D7-4960-A2B8-CABDE2B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196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Executor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9F48D-9154-4281-A4B9-714AED37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Places reproducible multi-leg orders through the Alpaca CLI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FF6EF5-382B-4733-92CC-173341F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8152E-DD7F-4827-B9C5-15AE40B9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D0DC4-76AC-4474-AC53-98199A54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244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1A744E-E975-4F9A-8B68-578250E6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Monitors fills, profit targets, stops, and expiration safety</a:t>
            </a:r>
          </a:p>
        </p:txBody>
      </p:sp>
    </p:spTree>
    <p:extLst>
      <p:ext uri="{BB962C8B-B14F-4D97-AF65-F5344CB8AC3E}">
        <p14:creationId xmlns:p14="http://schemas.microsoft.com/office/powerpoint/2010/main" val="1439584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85F3E-08C2-41BD-8246-131A0CB6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99857-014A-46FA-BF75-3BE44A5C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CONTROL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45663-9F7B-4554-AA7C-186BD652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8D4B6-C58C-400E-910E-DE107ED9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23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strategist chooses from trades that already passed 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E20CA-B000-424A-B2C7-A87FB787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 model never emits a strike, quantity, price, or option leg.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5EF2-1FFF-48FE-AC92-42103194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45F94-A070-48E8-A44A-20F8A671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1. CANDIDATE FACTORY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E696C-DACC-4A4A-AE83-2C5DFC67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Deterministic code builds defined-risk structures from the live chain.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CFECB-1CC8-4651-A212-5F2446BA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73FFD-8189-4C95-A352-D1C0EA3A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CBFE3-5280-401D-8A64-1991ECEB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2. RISK 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E1A88-F740-4812-B3EE-47BB5F0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Each proposal receives a named approval or rejection before the model sees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B3E94-448B-47E6-90E3-7A12605E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9B142-581D-443A-8CBE-9BE68C6D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146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784C7-BD8A-40C1-B308-2212574E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3.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82F29-78EC-4167-B654-B2EEE213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Gemini returns an approved proposal ID or declines to trade.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AEFE4-79E6-4E5D-8D88-A73283DF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2445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B42DF-FFE6-41E2-8632-A0C7BB90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 confused model can choose a worse safe trade. It cannot create an unsafe one.</a:t>
            </a:r>
          </a:p>
        </p:txBody>
      </p:sp>
    </p:spTree>
    <p:extLst>
      <p:ext uri="{BB962C8B-B14F-4D97-AF65-F5344CB8AC3E}">
        <p14:creationId xmlns:p14="http://schemas.microsoft.com/office/powerpoint/2010/main" val="12247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2C52D6-3A81-488E-B39F-9DF12B32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445CF-895C-4650-8AC6-FE83F2EC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RISK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C9F63-4B1E-4A43-968B-288483F5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87030-593E-4C6D-B500-92C5FE12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Eight checks stand between an idea and an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E507B-BA68-4E43-8977-34D7653D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Current barbell preset. Limits are explicit, tested, and journalled by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992B9-EE21-4F36-B2FD-E5A5810B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BF71A-9F5C-4926-BB5B-14638993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8AD0F-BCFD-4693-8D77-4EAD9067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Kill 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0B178-1F07-4DC0-93ED-4BEEE2D4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4% day loss, 10% total drawdown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CB34E-39C9-467C-889C-03C0FF7E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FA231D-7CA9-48C6-BFC5-B0D57E8F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49C99-19A1-4686-A9CF-4F18E6ED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Trade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C10BD-9347-4240-9BEA-3C55DB22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7 new trades, 10 open structures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8C2C6-26A3-44EA-B99F-0EEE7745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91A86-1C46-4910-8A0B-E0F92C23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B5C74-1FE4-4273-B206-6815CF25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7B0BD-DEDE-4EEC-AE3A-B76A9BA5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Every short leg requires matching 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C6AEE-3890-446D-81C8-DCB61EC6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0BA04-00F4-4A69-B80B-65907F19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9724B-235B-462C-837E-073BF111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C5C25C-16B4-4FAB-B00E-614EF8E5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Rejects wide or unusable quotes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2C1FD-074A-4B42-B8FA-6F5FFAE5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BC0F99-0BF5-4055-8F6D-1430E3C1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345A6-CB1F-44EC-B34C-C2256E2D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731B5-B253-4C6F-B603-FF5D7831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18% credit floor, 45% debit cap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F0F34-7C26-40AB-BCE3-7A9BC4D8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490A5F-7D63-4EF9-B19C-563D41F5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AC0D8-A992-4F54-A989-63FA48B3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Event blackout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F873E9-49A2-4276-AE5A-3746C3DA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Blocks premium selling across catalysts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D2DCA-48AA-44E9-94EE-B37FB8B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CE3610-4EF7-4C55-A8AA-1E54228A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C9FCF9-60A0-42DE-A7F9-590C84B7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2C6E06-E670-4321-A643-B15E550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1% tactical, 1.25% carry per trade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740C93-3379-46A4-850F-B3628F1F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AA574B-DCDA-4653-8CE5-490D86C4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8E9C9C-038F-4D33-B144-5975F840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limits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CC4A3D-707E-4AF7-BD37-710C8BC3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8% open risk with sleeve and symbol caps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F97FB9-AC6E-410A-9ABB-A3B7A67D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Naked short options are structurally impossible. No configuration flag disables the coverage rule.</a:t>
            </a:r>
          </a:p>
        </p:txBody>
      </p:sp>
    </p:spTree>
    <p:extLst>
      <p:ext uri="{BB962C8B-B14F-4D97-AF65-F5344CB8AC3E}">
        <p14:creationId xmlns:p14="http://schemas.microsoft.com/office/powerpoint/2010/main" val="281135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E6675-5C4D-48C7-B6BE-C915C890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CBA2-175A-4847-B15E-744A40C5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STRATEGY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BFEF4-8346-44FB-8D9F-B96A98C4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8D669-8DCD-4CFF-92DC-9585AEAD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99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Three accounts test different sources of return on the same 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A6944-5FF2-407C-9F50-E268009C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977ED-58C6-475C-BD4D-FF536074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BARBELL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62041-83B4-4773-9F7A-73799118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Balanced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581EF-CA01-4657-9568-F5F3CFDE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65CBB-0B88-4EA2-BE43-5C88855D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Core income, convex trades, and financed carry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8343A-CC59-42FB-84FF-6D251275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Best for changing volatility regimes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5EE0F-AA96-4F46-9F76-C600FDF9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D3323-B9E9-44E7-976D-AF41B82C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CONVEX TILT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455C5-CACB-4809-A299-2D1A2E41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Asymmetric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846A1-EF8B-4AC6-91A0-789D27DF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62D7A-2232-4C88-9C48-4AD9568B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More budget for debit spreads and long gamma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32A9B-1F82-4DDA-8D00-A593AE2F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Benefits from large directional 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DFD05-16EB-4718-9B5E-631C2F85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8917F-1E38-40D4-AE7A-3A9C58F7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INCOME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91B21-3523-4188-9F5C-246452C8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4BE365-2ABE-4CC5-B574-967FEAE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4928E-BEAF-47BA-88E9-638D2A1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Defined-risk premium selling without convexity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36235-1AE8-43CE-A613-741EE2FB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Tests whether volatility risk premium alone 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A0E51-0318-497B-8B71-7688E4D9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Strategy set: credit spreads, debit spreads, iron condors, and financed risk reversals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86B05-B65B-4B56-B079-002EA30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Universe: SPY, QQQ, IWM, DIA, XLK, XLF, SMH, GLD, and TLT</a:t>
            </a:r>
          </a:p>
        </p:txBody>
      </p:sp>
    </p:spTree>
    <p:extLst>
      <p:ext uri="{BB962C8B-B14F-4D97-AF65-F5344CB8AC3E}">
        <p14:creationId xmlns:p14="http://schemas.microsoft.com/office/powerpoint/2010/main" val="7656771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B89196-C141-46AC-BCDB-2432B05A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D10E7-C35B-459C-BBFC-B9D830A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PAPER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706A3-1D7A-4BD1-8CF2-4B8F5149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B0E45-DED0-4F3C-8F14-F1AC4AE2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balanced account leads the live three-account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04238-BB91-4E79-8207-FDE43D83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Broker equity return as shown on 4 September 2026. The sample covers fewer than five sessions.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47700" y="200025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5b35a64c05481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27E42-4A82-4169-B780-C7153AB3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24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-0.64%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C6BF6-9131-450C-8310-467298DA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099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+0.79%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61DA1-2947-4EA7-A9D8-ABB798C7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053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+1.45%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80950-9DE3-4494-85A6-B670FED6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40005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DB1C1-3D3A-4DBD-8847-2324E191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MAIN ACCOUNT EQUITY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94880-C20D-4AD5-95D6-97261DCE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$101,451.99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7B9E4-FE67-41E1-8E3B-4857F4D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62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+$1,451.99 from $100,000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0B99D-328C-4AE9-BCFC-71702487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71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PEAK EQUITY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4F2FA-87B7-4828-92B6-7E5A4FA3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$101,965.56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AAB73-DBCF-4A94-8D02-6796332C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86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+1.97% intraday peak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0C288-04B4-4685-A56A-F93BFB85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MAXIMUM DRAWDOWN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AF806-C9EE-4B51-A90A-A8A8CF6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244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0.69%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755B7-59D5-4F79-8EB9-16A7292F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0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Observed on the main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DE3CB-F703-4601-AF34-910CA5D3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Paper results are experimental. They do not establish a durable edge.</a:t>
            </a:r>
          </a:p>
        </p:txBody>
      </p:sp>
    </p:spTree>
    <p:extLst>
      <p:ext uri="{BB962C8B-B14F-4D97-AF65-F5344CB8AC3E}">
        <p14:creationId xmlns:p14="http://schemas.microsoft.com/office/powerpoint/2010/main" val="1769669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42ABC-BD0C-4351-B6BB-3418D63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68A37-37A6-41B6-A369-01A1C941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91D6D-58F2-431B-82FA-20A426B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7729C-0C43-4933-B811-85B032C2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Every fill, refusal, and risk decision is visible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8d845623a447f"/>
          <a:srcRect xmlns:a="http://schemas.openxmlformats.org/drawingml/2006/main" l="0" t="4938" r="0" b="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24000"/>
            <a:ext cx="767715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2D419-D8BA-4D45-8803-FF53D302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764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PUBLIC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FE7C0-ED2E-49B8-A17C-9CE8638D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Live broker equity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8486F-5990-4539-BA2A-B366A5BC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Greeks and payoff curves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AA434-3766-486B-9CBF-5312A376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2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Open and closed structures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DC734-B41D-44B4-AB67-BBC4F7E5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Named rejection reasons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3A725-DCDA-449E-B72F-D23116FB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00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Stress tests and session plans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03132-ADE4-45A9-BBB1-1C45A540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Public link on the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07760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9DBFC-4855-4D73-A055-1D732DF5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0A56B-D9B8-4DFB-93D8-010213F5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5467E-9250-453C-844B-B170054E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1E27F-F7F7-4AC6-8983-E2B0DA4C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Autonomy without unchecked financial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C1F0B-664B-479C-92B9-F16D8CCF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Alphaca shows how an AI trading agent can act independently while deterministic software keeps control of account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263B7-CFA3-415B-BCD5-ABB6FAA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0238C-CF89-493E-9793-653D15F9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MARKET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E7286-B6D5-4C70-853F-0D2B4DC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9 ETFs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ECED1-DDC8-42CE-ACF2-6D8C9A8D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Liquid equity, sector, commodity, and bond proxies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05B36-3046-49C6-9288-E5860BA5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PORTFOLIO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8EF6A-FDB5-4D80-BA13-CFD34FAF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67744-5CAE-4D26-A5FF-03B5DE2A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Balanced, convex tilt, and income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B10C3-6AEE-495B-8B3B-2A375A89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OPEN RISK CEILING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F835F-694C-4D2F-A20A-3CF09054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E4A71-C0B2-49C3-9361-378A2AC5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Defined risk with a 10% drawdown stand-down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29740-7FB4-4C63-95C4-98DE4F4A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47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5A272-BECD-4281-A3C4-7D1EBA6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748AF-FEE6-4A53-A3D3-AC98FE8D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github.com/TheSupermanish/superio-trading-agent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3982B-87C6-4185-B011-29863B96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29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E7046-1F3B-46E3-AB0E-C768FEF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thesupermanish.github.io/superio-trading-agent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84101-2321-4D66-816D-C88B9E29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Built on Alpaca paper trading with Gemini, Vertex AI, Python, and Next.js</a:t>
            </a:r>
          </a:p>
        </p:txBody>
      </p:sp>
    </p:spTree>
    <p:extLst>
      <p:ext uri="{BB962C8B-B14F-4D97-AF65-F5344CB8AC3E}">
        <p14:creationId xmlns:p14="http://schemas.microsoft.com/office/powerpoint/2010/main" val="636207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2026-09-04T14:15:55.7170000Z</dcterms:created>
  <dcterms:modified xsi:type="dcterms:W3CDTF">2026-09-04T14:15:55.7170000Z</dcterms:modified>
</coreProperties>
</file>