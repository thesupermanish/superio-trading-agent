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b0b0080c6a4c2e" /><Relationship Type="http://schemas.openxmlformats.org/officeDocument/2006/relationships/extended-properties" Target="/docProps/app.xml" Id="Rfecedd7f71984a55" /><Relationship Type="http://schemas.openxmlformats.org/officeDocument/2006/relationships/officeDocument" Target="/ppt/presentation.xml" Id="R899268926e9b41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cfb83e3ada427a"/>
  </p:sldMasterIdLst>
  <p:notesMasterIdLst>
    <p:notesMasterId xmlns:r="http://schemas.openxmlformats.org/officeDocument/2006/relationships" r:id="Rd5dfb5f0c12348b8"/>
  </p:notesMasterIdLst>
  <p:sldIdLst>
    <p:sldId xmlns:r="http://schemas.openxmlformats.org/officeDocument/2006/relationships" id="256" r:id="R4f12defb192b4aa4"/>
    <p:sldId xmlns:r="http://schemas.openxmlformats.org/officeDocument/2006/relationships" id="257" r:id="Ra0a58511c12d4267"/>
    <p:sldId xmlns:r="http://schemas.openxmlformats.org/officeDocument/2006/relationships" id="258" r:id="R56fafc9729714baa"/>
    <p:sldId xmlns:r="http://schemas.openxmlformats.org/officeDocument/2006/relationships" id="259" r:id="R65edb36259874859"/>
    <p:sldId xmlns:r="http://schemas.openxmlformats.org/officeDocument/2006/relationships" id="260" r:id="R9922d0390b694abf"/>
    <p:sldId xmlns:r="http://schemas.openxmlformats.org/officeDocument/2006/relationships" id="261" r:id="R53fc5c707cef484a"/>
    <p:sldId xmlns:r="http://schemas.openxmlformats.org/officeDocument/2006/relationships" id="262" r:id="Rce5c440116564246"/>
    <p:sldId xmlns:r="http://schemas.openxmlformats.org/officeDocument/2006/relationships" id="263" r:id="R1ac6878f30764a34"/>
    <p:sldId xmlns:r="http://schemas.openxmlformats.org/officeDocument/2006/relationships" id="264" r:id="R4458883c2aae4b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bd1ad902614b0d" /><Relationship Type="http://schemas.openxmlformats.org/officeDocument/2006/relationships/slideMaster" Target="/ppt/slideMasters/slideMaster1.xml" Id="R10cfb83e3ada427a" /><Relationship Type="http://schemas.openxmlformats.org/officeDocument/2006/relationships/notesMaster" Target="/ppt/notesMasters/notesMaster1.xml" Id="Rd5dfb5f0c12348b8" /><Relationship Type="http://schemas.openxmlformats.org/officeDocument/2006/relationships/presProps" Target="/ppt/presProps.xml" Id="R7082fb0afbfc4b03" /><Relationship Type="http://schemas.openxmlformats.org/officeDocument/2006/relationships/tableStyles" Target="/ppt/tableStyles.xml" Id="R923464545a7b42c9" /><Relationship Type="http://schemas.openxmlformats.org/officeDocument/2006/relationships/slide" Target="/ppt/slides/slide1.xml" Id="R4f12defb192b4aa4" /><Relationship Type="http://schemas.openxmlformats.org/officeDocument/2006/relationships/slide" Target="/ppt/slides/slide2.xml" Id="Ra0a58511c12d4267" /><Relationship Type="http://schemas.openxmlformats.org/officeDocument/2006/relationships/slide" Target="/ppt/slides/slide3.xml" Id="R56fafc9729714baa" /><Relationship Type="http://schemas.openxmlformats.org/officeDocument/2006/relationships/slide" Target="/ppt/slides/slide4.xml" Id="R65edb36259874859" /><Relationship Type="http://schemas.openxmlformats.org/officeDocument/2006/relationships/slide" Target="/ppt/slides/slide5.xml" Id="R9922d0390b694abf" /><Relationship Type="http://schemas.openxmlformats.org/officeDocument/2006/relationships/slide" Target="/ppt/slides/slide6.xml" Id="R53fc5c707cef484a" /><Relationship Type="http://schemas.openxmlformats.org/officeDocument/2006/relationships/slide" Target="/ppt/slides/slide7.xml" Id="Rce5c440116564246" /><Relationship Type="http://schemas.openxmlformats.org/officeDocument/2006/relationships/slide" Target="/ppt/slides/slide8.xml" Id="R1ac6878f30764a34" /><Relationship Type="http://schemas.openxmlformats.org/officeDocument/2006/relationships/slide" Target="/ppt/slides/slide9.xml" Id="R4458883c2aae4b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a9afd3baa446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3ce126dc25490f" /><Relationship Type="http://schemas.openxmlformats.org/officeDocument/2006/relationships/notesMaster" Target="/ppt/notesMasters/notesMaster1.xml" Id="Rc897431db3c54e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cb63f61abf4a6d" /><Relationship Type="http://schemas.openxmlformats.org/officeDocument/2006/relationships/notesMaster" Target="/ppt/notesMasters/notesMaster1.xml" Id="R99ae3b68a4b240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74e1906a29436e" /><Relationship Type="http://schemas.openxmlformats.org/officeDocument/2006/relationships/notesMaster" Target="/ppt/notesMasters/notesMaster1.xml" Id="Rafaab68291b840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d5d412610e40cc" /><Relationship Type="http://schemas.openxmlformats.org/officeDocument/2006/relationships/notesMaster" Target="/ppt/notesMasters/notesMaster1.xml" Id="R443d298ef4264c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4e0c872cfd4881" /><Relationship Type="http://schemas.openxmlformats.org/officeDocument/2006/relationships/notesMaster" Target="/ppt/notesMasters/notesMaster1.xml" Id="R07fcf03e70e945d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bb17e423cb45f9" /><Relationship Type="http://schemas.openxmlformats.org/officeDocument/2006/relationships/notesMaster" Target="/ppt/notesMasters/notesMaster1.xml" Id="R0e1ef36e1fb949e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5a9c71fb3a4604" /><Relationship Type="http://schemas.openxmlformats.org/officeDocument/2006/relationships/notesMaster" Target="/ppt/notesMasters/notesMaster1.xml" Id="Re7ef943b215d46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c2b6e16c51e49f8" /><Relationship Type="http://schemas.openxmlformats.org/officeDocument/2006/relationships/notesMaster" Target="/ppt/notesMasters/notesMaster1.xml" Id="R4e64c713a278420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9252704a603460b" /><Relationship Type="http://schemas.openxmlformats.org/officeDocument/2006/relationships/notesMaster" Target="/ppt/notesMasters/notesMaster1.xml" Id="R6673a02120d043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README.md, engine/config.py, and dashboard/public/snapshot*.json. This project uses Alpaca paper accounts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 rationale and system thesis are documented in README.md and docs/WRITEUP.md.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source: README.md. Model routing source: engine/llm.py. Execution and management source: engine/executor.py and engine/manager.py.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strategist's tool loop and bounded output are described in README.md and docs/WRITEUP.md. Candidate construction and gate evaluation live in engine/structures.py and engine/risk.py.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limits verified from engine/config.py on 4 September 2026. Gate implementation source: engine/risk.py. All values refer to Alpaca paper trading.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Profiles and strategy variants are documented in README.md. Universe and sleeve configuration source: engine/config.py.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Main values come from the live dashboard screenshot captured at 10:18 ET on 4 September 2026. Test2 and test3 returns come from dashboard/public/snapshot-test2.json and snapshot-test3.json. Percent figures are displayed as percentage points, not decimal fractions. Paper trading results are not live trading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Dashboard screenshot captured from the locally served current build on 4 September 2026. Public mirror: https://thesupermanish.github.io/superio-trading-agent/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Repository: https://github.com/TheSupermanish/superio-trading-agent. Public demo: https://thesupermanish.github.io/superio-trading-agent/. All performance shown in this deck comes from paper accounts over a short hackathon window.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14bae2a1f847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aef2d3009742c4" /><Relationship Type="http://schemas.openxmlformats.org/officeDocument/2006/relationships/slideLayout" Target="/ppt/slideLayouts/slideLayout1.xml" Id="R6f413a58e3544a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413a58e3544a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72ad532e6c4a36" /><Relationship Type="http://schemas.openxmlformats.org/officeDocument/2006/relationships/image" Target="/ppt/media/image.jpeg" Id="Re1c40417304b4d32" /><Relationship Type="http://schemas.openxmlformats.org/officeDocument/2006/relationships/notesSlide" Target="/ppt/notesSlides/notesSlide1.xml" Id="Rb03fb3d370a947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c9d6ad03eb4335" /><Relationship Type="http://schemas.openxmlformats.org/officeDocument/2006/relationships/notesSlide" Target="/ppt/notesSlides/notesSlide2.xml" Id="Ra96b6ee1b78849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ccf02101a847d4" /><Relationship Type="http://schemas.openxmlformats.org/officeDocument/2006/relationships/notesSlide" Target="/ppt/notesSlides/notesSlide3.xml" Id="Re3d1709382d14c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cb6e13da854329" /><Relationship Type="http://schemas.openxmlformats.org/officeDocument/2006/relationships/notesSlide" Target="/ppt/notesSlides/notesSlide4.xml" Id="R0eef5271360143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83ab20098145a2" /><Relationship Type="http://schemas.openxmlformats.org/officeDocument/2006/relationships/notesSlide" Target="/ppt/notesSlides/notesSlide5.xml" Id="Rbb47505aa86447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6540748e8043af" /><Relationship Type="http://schemas.openxmlformats.org/officeDocument/2006/relationships/notesSlide" Target="/ppt/notesSlides/notesSlide6.xml" Id="Rc5324a2a2b6b48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cb3f4a40d748a8" /><Relationship Type="http://schemas.openxmlformats.org/officeDocument/2006/relationships/chart" Target="/ppt/slides/charts/chart1.xml" Id="Rd8c7a25fa459439a" /><Relationship Type="http://schemas.openxmlformats.org/officeDocument/2006/relationships/notesSlide" Target="/ppt/notesSlides/notesSlide7.xml" Id="R338fdda649fc43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2e692e8f0d4a10" /><Relationship Type="http://schemas.openxmlformats.org/officeDocument/2006/relationships/image" Target="/ppt/media/image.png" Id="Rb6fe7b9219ac4e87" /><Relationship Type="http://schemas.openxmlformats.org/officeDocument/2006/relationships/notesSlide" Target="/ppt/notesSlides/notesSlide8.xml" Id="Rd4cda1e15689479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35d6963e774ec3" /><Relationship Type="http://schemas.openxmlformats.org/officeDocument/2006/relationships/notesSlide" Target="/ppt/notesSlides/notesSlide9.xml" Id="R163b762778ad428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Return</c:v>
          </c:tx>
          <c:spPr>
            <a:solidFill xmlns:a="http://schemas.openxmlformats.org/drawingml/2006/main">
              <a:srgbClr val="FFBF18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16D9A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56A7FF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FF6174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Barbell</c:v>
                </c:pt>
                <c:pt idx="1">
                  <c:v>Convex tilt</c:v>
                </c:pt>
                <c:pt idx="2">
                  <c:v>Income only</c:v>
                </c:pt>
              </c:strCache>
            </c:strRef>
          </c:cat>
          <c:val>
            <c:numRef>
              <c:f>'Chart Data'!$B$2:$B$4</c:f>
              <c:numCache>
                <c:formatCode>0.00%</c:formatCode>
                <c:ptCount val="3"/>
                <c:pt idx="0">
                  <c:v>0.0145</c:v>
                </c:pt>
                <c:pt idx="1">
                  <c:v>0.0079</c:v>
                </c:pt>
                <c:pt idx="2">
                  <c:v>-0.0064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.0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90B10"/>
        </a:solidFill>
        <a:ln xmlns:a="http://schemas.openxmlformats.org/drawingml/2006/main" w="9525">
          <a:solidFill>
            <a:srgbClr val="202938"/>
          </a:solidFill>
        </a:ln>
      </c:spPr>
    </c:plotArea>
    <c:plotVisOnly val="1"/>
  </c:chart>
  <c:spPr>
    <a:solidFill xmlns:a="http://schemas.openxmlformats.org/drawingml/2006/main">
      <a:srgbClr val="090B10"/>
    </a:solidFill>
    <a:ln xmlns:a="http://schemas.openxmlformats.org/drawingml/2006/main" w="9525">
      <a:solidFill>
        <a:srgbClr val="202938"/>
      </a:solidFill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DE1441-44BC-451C-AA25-949FB1D1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43C454-8083-45CB-8A4D-152C58A0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98C133-F761-41B8-812C-DC4D3E65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ALPACA AI TRADING AGENTS HACKATHON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D70EAD-6493-4A7E-93D1-5F36BCBE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80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alpha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E3D9A2-FDB8-4033-AFE8-27DFE1CF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971550"/>
            <a:ext cx="857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398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79F2A8-EAA0-40DD-841D-FDB02450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71700"/>
            <a:ext cx="7524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Autonomous options trading with deterministic risk control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BCDE49-25B9-49B9-8C46-439AE2E3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230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Gemini reads the market and selects an approved structure. Code controls every leg, size, limit, and exit.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c40417304b4d3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15375" y="1123950"/>
            <a:ext cx="2381250" cy="2381250"/>
          </a:xfrm>
          <a:prstGeom xmlns:a="http://schemas.openxmlformats.org/drawingml/2006/main" prst="ellipse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7E411E-B8FC-4AFE-BA42-21D2311B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71475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D9A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5CDDD8-3DD1-4C80-8D35-2A071A14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867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PAPER TRADING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A36C80-0CF9-457B-A204-8A5B8BF0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Nine ETFs across three independently managed paper accounts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26309F-40EB-48D2-944C-643CF402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9245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SEP 2026</a:t>
            </a:r>
          </a:p>
        </p:txBody>
      </p:sp>
    </p:spTree>
    <p:extLst>
      <p:ext uri="{BB962C8B-B14F-4D97-AF65-F5344CB8AC3E}">
        <p14:creationId xmlns:p14="http://schemas.microsoft.com/office/powerpoint/2010/main" val="16764852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DAD302-D8BB-4BFC-A3B5-20C1F840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FDE031-3143-49D6-8A1F-F31DB2ED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EB282C-2AAA-4A0E-A639-35796634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69020B-B762-4F71-AD92-435FACDF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Models can read markets. Limits need code.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756799-6E08-40A6-B2FE-3656CD9C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85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A useful trading agent must reason under uncertainty without gaining authority over the account's safety boundaries.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E16375-142C-430E-BA84-3BDC73BC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5048250" cy="28003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714CE2-6D69-4FDF-8B74-305A9469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AI IS GOOD 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E3CBEC-640E-49CB-BA34-C9A25D00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03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Reading regime and volatility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BA351E-D790-4DE0-A610-6D96E112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Interpreting news and catalysts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3EBB75-2AA2-4EFC-A021-892C91E5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8622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Comparing strategy tradeoffs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C1C832-D7F2-47AC-8470-6C3E648C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333625"/>
            <a:ext cx="5048250" cy="28003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648587-7085-4550-B5BC-9C4482BB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289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CODE MUST OWN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95BDC6-858C-42B8-AE15-2AEF7001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003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Position sizing and maximum loss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2A47A8-0E00-4DC3-AE09-5911EF16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433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Liquidity and event constraints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84E5BB-21EA-42A2-A052-FF73FF3B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8622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Orders, exits, and kill switches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984544-D780-4121-92D6-48E3C019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43550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Alphaca separates judgment from authority.</a:t>
            </a:r>
          </a:p>
        </p:txBody>
      </p:sp>
    </p:spTree>
    <p:extLst>
      <p:ext uri="{BB962C8B-B14F-4D97-AF65-F5344CB8AC3E}">
        <p14:creationId xmlns:p14="http://schemas.microsoft.com/office/powerpoint/2010/main" val="20708733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69169E-6207-42F7-8A00-C57D0BF7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30DF3-87F5-4603-87ED-5D712471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F21017-FD37-4A2D-A665-341E7A55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526B2E-458A-47C8-9700-7D61A331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Six roles turn market data into a managed position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7AD3A0-F8F2-4CB1-A909-D016F510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6A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6A7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B33C02-7965-4E24-B1B2-C6984713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0975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7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E40F6A-15B1-42E9-B42F-AFB5245A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60020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Scout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515398-C365-4AA4-8C87-2F11AE60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002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Measures trend, realized volatility, implied volatility, and their spread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CBB3CB-26DF-46E4-B3FF-86A3C974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4A46FE-C54D-4036-A6FB-FEB854FD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146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D9A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0E8841-8390-4847-801F-EC91E338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3050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Analyst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C566FF-211A-4AEC-85B1-ECCD4D71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050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Uses Gemini with search grounding to capture news and scheduled catalysts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ADBA57-D4E9-4160-AA59-455F949B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374309-388D-4BF9-BF49-8AD7D8A2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1945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4239AB-A307-4C39-B90C-5AB56719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00990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Strategist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19FF3F-2770-4F59-B033-979E410C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099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Compares approved structures and returns a proposal reference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80EE8F-40FB-41B4-988E-B7E3088A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1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617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E492D4-F37C-4A36-A368-C6D4F2A8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243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174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63420B-CD77-4B09-A7B4-FDF909E6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7147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Risk officer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635AC9-1D5A-48B2-9864-11C86C2C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147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Applies deterministic gates and computes a safe quantity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B75909-EC89-4C65-B50D-AE8129C5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6A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6A7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30C4D4-DD84-430A-9AE6-BB2CA103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2915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7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58033E-5F8B-4CD9-AA4A-294A17FD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41960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Executor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DABD8F-0C31-4E77-9603-4E3F9A9B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19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Places reproducible multi-leg orders through the Alpaca CLI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8D6A0A-77E4-4AC7-A8C2-33BEFEB4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314416-0EE7-492A-ACEE-B964E702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3340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D9A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1F3FE3-653B-4382-8021-04A5A555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1244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Manager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C20B74-3280-4882-A7E7-E2D41500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1244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Monitors fills, profit targets, stops, and expiration safety</a:t>
            </a:r>
          </a:p>
        </p:txBody>
      </p:sp>
    </p:spTree>
    <p:extLst>
      <p:ext uri="{BB962C8B-B14F-4D97-AF65-F5344CB8AC3E}">
        <p14:creationId xmlns:p14="http://schemas.microsoft.com/office/powerpoint/2010/main" val="1399152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D102BE-3E04-4C80-8718-3EC4044C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903E1D-5DCF-45C1-936B-45B55B3D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CONTROL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FA3D57-9D53-43C1-939B-A9B68FE2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400704-784F-4F92-853A-DC3F03A0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123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The strategist chooses from trades that already passed risk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0718C3-C99B-4A03-A6E9-00766E72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The model never emits a strike, quantity, price, or option leg.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BE7430-EE0E-48AD-B112-E921D1C6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32004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3E3F1B-53D7-486A-9181-DFCB4051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6A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6A7FF"/>
                </a:solidFill>
                <a:latin typeface="Helvetica Neue"/>
                <a:ea typeface="Helvetica Neue"/>
                <a:cs typeface="Helvetica Neue"/>
              </a:rPr>
              <a:t>1. CANDIDATE FACTORY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E4BB98-885E-4A07-910D-54B5C692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2647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Deterministic code builds defined-risk structures from the live chain.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622F72-4E78-4AB4-979B-0378717C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7185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7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FA37DB-3A65-4B7B-9CC9-F82CB4CB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28850"/>
            <a:ext cx="32004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BAD574-5FE0-4AF5-84CE-3B86DDBB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574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61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F6174"/>
                </a:solidFill>
                <a:latin typeface="Helvetica Neue"/>
                <a:ea typeface="Helvetica Neue"/>
                <a:cs typeface="Helvetica Neue"/>
              </a:rPr>
              <a:t>2. RISK VERDICT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3FD71D-50DF-43BF-B9D9-E57C4A09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57500"/>
            <a:ext cx="2647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Each proposal receives a named approval or rejection before the model sees 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89191B-AEC6-4E89-9BB2-AE82562E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7185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17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C64EED-D3A9-4254-B08B-94A7A437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28850"/>
            <a:ext cx="29146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C790FE-7F5A-476A-AFE6-71E05D6C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574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3. SELECTION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6256AC-AFD6-40C5-AF6F-11D297B2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57500"/>
            <a:ext cx="23622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Gemini returns an approved proposal ID or declines to trade.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55C0BA-E395-476B-82B1-7F54D2E0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124450"/>
            <a:ext cx="8572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51C28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E08095-1EC1-476D-A4BA-4BE47672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792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839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A confused model can choose a worse safe trade. It cannot create an unsafe one.</a:t>
            </a:r>
          </a:p>
        </p:txBody>
      </p:sp>
    </p:spTree>
    <p:extLst>
      <p:ext uri="{BB962C8B-B14F-4D97-AF65-F5344CB8AC3E}">
        <p14:creationId xmlns:p14="http://schemas.microsoft.com/office/powerpoint/2010/main" val="1117332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EB72D6-6ED9-4CA5-B0BA-59F4CDB0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388CE0-9843-42DB-93B4-2798D71B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RISK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AF98E8-572C-43EB-9D61-FB2BB9A0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C5DAC2-4750-4D05-9382-40745DC6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Eight checks stand between an idea and an order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323C25-69F5-4F20-81B5-3396CFB2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Current barbell preset. Limits are explicit, tested, and journalled by name.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4709BE-4B47-4356-BFB2-571FBCB4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5314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C9A288-269B-4F1E-810D-934AF916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G1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589C4F-AF45-446D-93DD-BEB5FADF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2882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Kill switches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D383CD-400D-4F00-A26F-9C3A4769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9552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4% day loss, 10% total drawdown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078D24-5CE2-41AF-A501-B22BCD51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52625"/>
            <a:ext cx="5314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6BF68F-F13C-476E-B3CC-5182CD23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764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G2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D4B2D8-B057-416D-BF6B-F2559C51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2882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Trade budget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4DBD57-E2C8-4FD5-941E-FBB139EF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9552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7 new trades, 10 open structures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25B16E-ED57-48B5-937A-39854004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28925"/>
            <a:ext cx="5314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D8E93C-DB8D-4775-87AA-DD848C4A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G3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17E221-147F-4926-B051-D76D3DB6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0512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Defined risk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9541EF-1FEE-4AD0-A6E9-9E6AC3C5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7182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Every short leg requires matching cover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58AD06-404B-4C7C-8698-26A7258C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28925"/>
            <a:ext cx="5314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B52779-5999-4B89-B711-4D4F3472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527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G4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ACA569-767B-4178-8427-E093B978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0512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Liquidity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C39EF0-257A-4F37-A23C-A8C4DE26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7182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Rejects wide or unusable quotes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F92EA0-45CE-4C56-8923-E5DBE3D9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05225"/>
            <a:ext cx="5314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27E6C3-461D-49F6-91D9-3F2D25C0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G5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1430C7-8EE1-4986-B682-F934479E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8142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Pricing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E62AA9-F1E7-4E3B-B7EE-0F3B399A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4812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18% credit floor, 45% debit cap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C26F24-8B28-470F-93E6-5FC40238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05225"/>
            <a:ext cx="5314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57B039-BB46-4ECC-BAEF-B3C7F345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290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G6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C26D79-3518-403B-A8CF-A3F0C2CA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8142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Event blackout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3C8753-5904-42A6-9F69-EBA9D155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4812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Blocks premium selling across catalysts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204C2F-270A-40D0-B271-BF11F290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81525"/>
            <a:ext cx="5314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DDF269-4CB5-4603-9995-E60CDF56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053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G7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F42075-DF23-4222-8D2F-DB109A0A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5772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Position sizing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9204CB-3583-490A-A12C-958F41C4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2442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1% tactical, 1.25% carry per trade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FAE13F-D3BC-4533-B599-D0DCE014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81525"/>
            <a:ext cx="5314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1E3224-2123-4E4F-B161-EC4B7760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053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G8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ADAB2B-0BE4-4C50-9C9E-6DBD9458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5772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Portfolio limits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F96365-9F31-4BDB-8787-E8491876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92442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8% open risk with sleeve and symbol caps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22F513-C944-403A-913A-00B5EA4B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Naked short options are structurally impossible. No configuration flag disables the coverage rule.</a:t>
            </a:r>
          </a:p>
        </p:txBody>
      </p:sp>
    </p:spTree>
    <p:extLst>
      <p:ext uri="{BB962C8B-B14F-4D97-AF65-F5344CB8AC3E}">
        <p14:creationId xmlns:p14="http://schemas.microsoft.com/office/powerpoint/2010/main" val="19514206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AD7F89-7FC3-440D-8168-6F924C9A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94084B-C20D-4BEB-8379-D876D6C0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STRATEGY EXPERIMENT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4F0B74-FB07-4B42-AC73-156A6D7C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456333-D17F-465D-8B9A-49915A38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199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Three accounts test different sources of return on the same tape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0D98D6-6F54-41B1-ADC3-A70B89C5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3352800" cy="337185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58E32C-4E7F-4891-84B8-09C5BD35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76450"/>
            <a:ext cx="281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BARBELL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010735-847D-4383-8C75-A8D954A0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2819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Balanced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0C1035-9C1C-47F1-BF4D-E005F51E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99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A8FA69-E51A-4167-A244-82499D82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95650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Core income, convex trades, and financed carry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ACCC27-DB00-48BC-9274-CD3E41D2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43400"/>
            <a:ext cx="2781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Best for changing volatility regimes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EC9084-690F-4B90-84AC-D894D9BD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09750"/>
            <a:ext cx="3352800" cy="337185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7EFDDD-6902-4B2B-8ECE-6E679336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76450"/>
            <a:ext cx="281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CONVEX TILT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F890F6-E053-4304-A5E2-ED794514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00300"/>
            <a:ext cx="2819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Asymmetric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2DD086-BBF3-4182-B0E9-D97C9C8D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099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D9A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AE479C-3D72-488A-BCF7-229A2729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95650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More budget for debit spreads and long gamma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7BE64C-934D-410A-8EBA-0622C89A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343400"/>
            <a:ext cx="2781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Benefits from large directional moves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BFC6DC-09C0-4C00-8B4A-17CE0D48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352800" cy="337185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700582-A7C4-4576-9DAB-6AD42E04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76450"/>
            <a:ext cx="281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6A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6A7FF"/>
                </a:solidFill>
                <a:latin typeface="Helvetica Neue"/>
                <a:ea typeface="Helvetica Neue"/>
                <a:cs typeface="Helvetica Neue"/>
              </a:rPr>
              <a:t>INCOME ONLY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DC5C85-209C-4DAD-BBC2-2A1C6BD0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00300"/>
            <a:ext cx="2819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Control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894149-C5B3-4736-AEEE-696967EE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099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7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367F8C-99FC-4913-9E26-08DBF069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95650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Defined-risk premium selling without convexity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F8E853-D365-4D4C-90D0-C5E9B8A2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43400"/>
            <a:ext cx="2781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Tests whether volatility risk premium alone works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BA4097-E137-4CDE-9B38-D4324198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816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Strategy set: credit spreads, debit spreads, iron condors, and financed risk reversals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D64BDE-0025-43FB-ABF4-05A3849C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Universe: SPY, QQQ, IWM, DIA, XLK, XLF, SMH, GLD, and TLT</a:t>
            </a:r>
          </a:p>
        </p:txBody>
      </p:sp>
    </p:spTree>
    <p:extLst>
      <p:ext uri="{BB962C8B-B14F-4D97-AF65-F5344CB8AC3E}">
        <p14:creationId xmlns:p14="http://schemas.microsoft.com/office/powerpoint/2010/main" val="10444222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4AC0FF-BA70-4B55-9710-2E4B0400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06F9C5-B7B0-4434-BFD1-AD6EB30D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PAPER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900FDF-E15B-4AC0-82C1-5747311A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40C557-E87F-4C0A-89CB-995BF280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The balanced account leads the live three-account 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93B7C4-6ECD-4723-B578-4ECAE89D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Broker equity return as shown on 4 September 2026. The sample covers fewer than five sessions.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647700" y="2000250"/>
          <a:ext xmlns:a="http://schemas.openxmlformats.org/drawingml/2006/main" cx="6191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8c7a25fa459439a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4917D3-84CD-4B18-AB42-17869E28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00250"/>
            <a:ext cx="4000500" cy="3667125"/>
          </a:xfrm>
          <a:prstGeom xmlns:a="http://schemas.openxmlformats.org/drawingml/2006/main" prst="roundRect">
            <a:avLst>
              <a:gd name="adj" fmla="val 2078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785BD3-6DCF-4D25-94C5-94D8680C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479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MAIN ACCOUNT EQUITY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95FD54-A040-442A-BB50-D3DBCB5E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765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$101,451.99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76A62B-D699-4B96-94E2-36949A98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96227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+$1,451.99 from $100,000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2FC27F-0BDE-4642-8BCF-4D8959B4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3718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PEAK EQUITY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CB6A6A-CD81-4256-97EC-A7FA6A6C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004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$101,965.56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4C47C2-2BBB-4B2A-BF71-1939FF95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8622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+1.97% intraday peak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A852F7-47A7-4E8F-921E-E027DC6C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MAXIMUM DRAWDOWN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F87773-B8C2-4F45-9840-C23AB546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7244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0.69%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86AD99-C467-44B7-8CD1-8B847BFF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21017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Observed on the main account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14DF13-B4F2-4C42-9F99-72B090FB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721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1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6174"/>
                </a:solidFill>
                <a:latin typeface="Helvetica Neue"/>
                <a:ea typeface="Helvetica Neue"/>
                <a:cs typeface="Helvetica Neue"/>
              </a:rPr>
              <a:t>Paper results are experimental. They do not establish a durable edge.</a:t>
            </a:r>
          </a:p>
        </p:txBody>
      </p:sp>
    </p:spTree>
    <p:extLst>
      <p:ext uri="{BB962C8B-B14F-4D97-AF65-F5344CB8AC3E}">
        <p14:creationId xmlns:p14="http://schemas.microsoft.com/office/powerpoint/2010/main" val="10203594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FE62AA-36F0-47B2-9C64-228C0097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0BE4C7-43B2-4E3F-930D-48B1CB22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AUDITABILITY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4EFE4C-00B6-478C-AECB-C957A1B7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20FED3-25B8-4709-A4C0-3DDAF320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Every fill, refusal, and risk decision is visible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fe7b9219ac4e87"/>
          <a:srcRect xmlns:a="http://schemas.openxmlformats.org/drawingml/2006/main" l="0" t="4938" r="0" b="49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524000"/>
            <a:ext cx="7677150" cy="4324350"/>
          </a:xfrm>
          <a:prstGeom xmlns:a="http://schemas.openxmlformats.org/drawingml/2006/main" prst="roundRect">
            <a:avLst>
              <a:gd name="adj" fmla="val 264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7D824A-6AFF-41E9-A327-CBE27955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76400"/>
            <a:ext cx="2552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PUBLIC DASHBOARD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EBF3BF-D440-422D-A5D5-E978F65D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574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Live broker equity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A2213F-65FB-4C24-B490-B56CCDBE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0985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Portfolio Greeks and payoff curves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A71611-AAC1-49CA-8912-C2D5E29B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956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829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Open and closed structures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C4D25E-E154-4CAD-84F1-88ED181E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481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Named rejection reasons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A97531-1DD4-4E42-B235-F59EFC96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0055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Stress tests and session plans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076632-2842-44F1-A480-7D94F3AC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4102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Public link on the closing slide</a:t>
            </a:r>
          </a:p>
        </p:txBody>
      </p:sp>
    </p:spTree>
    <p:extLst>
      <p:ext uri="{BB962C8B-B14F-4D97-AF65-F5344CB8AC3E}">
        <p14:creationId xmlns:p14="http://schemas.microsoft.com/office/powerpoint/2010/main" val="16756348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2375C3-96EC-4B96-A10A-28A34F2F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25D37F-4A27-4BC0-BB8C-8BE998CF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637557-B5B3-43E9-AA4E-1CAA309D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0E331A-9333-4B27-A91F-5E297825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Autonomy without unchecked financial authority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FE8633-B943-4307-94C2-FBD79E2F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Alphaca shows how an AI trading agent can act independently while deterministic software keeps control of account risk.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66FF70-36CE-4F33-82D0-89D2B155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3365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93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26DA53-A3CB-40E2-8148-82010C8C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MARKET COVERAGE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2B694E-0070-40DA-872D-BAA6A858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813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6A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56A7FF"/>
                </a:solidFill>
                <a:latin typeface="Helvetica Neue"/>
                <a:ea typeface="Helvetica Neue"/>
                <a:cs typeface="Helvetica Neue"/>
              </a:rPr>
              <a:t>9 ETFs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169CDA-3145-4802-848C-73121E06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67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Liquid equity, sector, commodity, and bond proxies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80BDC-7F1A-4D22-B843-68252AD01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952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PORTFOLIO EXPERIMENT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FAC443-EABB-486F-AA33-3C671F95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813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3 accounts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C59D8B-2250-4BDD-83A0-2E798CA2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667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Balanced, convex tilt, and income control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A8A313-2B52-4A05-9BE6-76F0769D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52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OPEN RISK CEILING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1E0B73-1826-4467-A914-41B0C9DA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8135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8%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98A6EB-4EC9-4B78-8BFF-083018A4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671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Defined risk with a 10% drawdown stand-down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93C1BC-A02A-4B5B-9716-CE8A4D1C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10477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51C28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5762AE-4E7C-44D2-AEC5-EDC94B45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291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Repository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781FB8-6136-4B6A-91F9-5A64ECB6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054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github.com/TheSupermanish/superio-trading-agent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3A36C1-FD4A-4EE6-A8AE-A46B8857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8291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Live demo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0F8274-C0D5-43B6-A643-E9E7E796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1054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thesupermanish.github.io/superio-trading-agent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B13F11-E641-4F3A-BF2B-EE039EEE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Built on Alpaca paper trading with Gemini, Vertex AI, Python, and Next.js</a:t>
            </a:r>
          </a:p>
        </p:txBody>
      </p:sp>
    </p:spTree>
    <p:extLst>
      <p:ext uri="{BB962C8B-B14F-4D97-AF65-F5344CB8AC3E}">
        <p14:creationId xmlns:p14="http://schemas.microsoft.com/office/powerpoint/2010/main" val="15277033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2026-09-04T14:15:10.4800000Z</dcterms:created>
  <dcterms:modified xsi:type="dcterms:W3CDTF">2026-09-04T14:15:10.4800000Z</dcterms:modified>
</coreProperties>
</file>