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e72f7358a4cba" /><Relationship Type="http://schemas.openxmlformats.org/officeDocument/2006/relationships/extended-properties" Target="/docProps/app.xml" Id="Rd770ec9362154cb3" /><Relationship Type="http://schemas.openxmlformats.org/officeDocument/2006/relationships/officeDocument" Target="/ppt/presentation.xml" Id="Ra8bfc2c9d9d544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4f8ac438245a4"/>
  </p:sldMasterIdLst>
  <p:notesMasterIdLst>
    <p:notesMasterId xmlns:r="http://schemas.openxmlformats.org/officeDocument/2006/relationships" r:id="Rc624bedc726a4ab9"/>
  </p:notesMasterIdLst>
  <p:sldIdLst>
    <p:sldId xmlns:r="http://schemas.openxmlformats.org/officeDocument/2006/relationships" id="256" r:id="R51c39109e0b04c86"/>
    <p:sldId xmlns:r="http://schemas.openxmlformats.org/officeDocument/2006/relationships" id="257" r:id="R75cbd71a1f72435a"/>
    <p:sldId xmlns:r="http://schemas.openxmlformats.org/officeDocument/2006/relationships" id="258" r:id="R71bad5aeb68c474a"/>
    <p:sldId xmlns:r="http://schemas.openxmlformats.org/officeDocument/2006/relationships" id="259" r:id="Rfbc538c89d2942c1"/>
    <p:sldId xmlns:r="http://schemas.openxmlformats.org/officeDocument/2006/relationships" id="260" r:id="R5f40a44172fe4c2b"/>
    <p:sldId xmlns:r="http://schemas.openxmlformats.org/officeDocument/2006/relationships" id="261" r:id="Rf4e706c8292c4654"/>
    <p:sldId xmlns:r="http://schemas.openxmlformats.org/officeDocument/2006/relationships" id="262" r:id="Rb4f2ac4eeb284f0a"/>
    <p:sldId xmlns:r="http://schemas.openxmlformats.org/officeDocument/2006/relationships" id="263" r:id="R587d5a9e1ddb4895"/>
    <p:sldId xmlns:r="http://schemas.openxmlformats.org/officeDocument/2006/relationships" id="264" r:id="R06b819431b6f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7e987439d4130" /><Relationship Type="http://schemas.openxmlformats.org/officeDocument/2006/relationships/slideMaster" Target="/ppt/slideMasters/slideMaster1.xml" Id="Rbf94f8ac438245a4" /><Relationship Type="http://schemas.openxmlformats.org/officeDocument/2006/relationships/notesMaster" Target="/ppt/notesMasters/notesMaster1.xml" Id="Rc624bedc726a4ab9" /><Relationship Type="http://schemas.openxmlformats.org/officeDocument/2006/relationships/presProps" Target="/ppt/presProps.xml" Id="Rcd1e0361305c40dd" /><Relationship Type="http://schemas.openxmlformats.org/officeDocument/2006/relationships/tableStyles" Target="/ppt/tableStyles.xml" Id="Ra029c20c79c64015" /><Relationship Type="http://schemas.openxmlformats.org/officeDocument/2006/relationships/slide" Target="/ppt/slides/slide1.xml" Id="R51c39109e0b04c86" /><Relationship Type="http://schemas.openxmlformats.org/officeDocument/2006/relationships/slide" Target="/ppt/slides/slide2.xml" Id="R75cbd71a1f72435a" /><Relationship Type="http://schemas.openxmlformats.org/officeDocument/2006/relationships/slide" Target="/ppt/slides/slide3.xml" Id="R71bad5aeb68c474a" /><Relationship Type="http://schemas.openxmlformats.org/officeDocument/2006/relationships/slide" Target="/ppt/slides/slide4.xml" Id="Rfbc538c89d2942c1" /><Relationship Type="http://schemas.openxmlformats.org/officeDocument/2006/relationships/slide" Target="/ppt/slides/slide5.xml" Id="R5f40a44172fe4c2b" /><Relationship Type="http://schemas.openxmlformats.org/officeDocument/2006/relationships/slide" Target="/ppt/slides/slide6.xml" Id="Rf4e706c8292c4654" /><Relationship Type="http://schemas.openxmlformats.org/officeDocument/2006/relationships/slide" Target="/ppt/slides/slide7.xml" Id="Rb4f2ac4eeb284f0a" /><Relationship Type="http://schemas.openxmlformats.org/officeDocument/2006/relationships/slide" Target="/ppt/slides/slide8.xml" Id="R587d5a9e1ddb4895" /><Relationship Type="http://schemas.openxmlformats.org/officeDocument/2006/relationships/slide" Target="/ppt/slides/slide9.xml" Id="R06b819431b6f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13fb34033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32ae01fad492d" /><Relationship Type="http://schemas.openxmlformats.org/officeDocument/2006/relationships/notesMaster" Target="/ppt/notesMasters/notesMaster1.xml" Id="R5ffea094aef2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f554852074cdb" /><Relationship Type="http://schemas.openxmlformats.org/officeDocument/2006/relationships/notesMaster" Target="/ppt/notesMasters/notesMaster1.xml" Id="R9710b0492e5e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cebc54d86b4335" /><Relationship Type="http://schemas.openxmlformats.org/officeDocument/2006/relationships/notesMaster" Target="/ppt/notesMasters/notesMaster1.xml" Id="R987b977d1af842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424cbad97445a7" /><Relationship Type="http://schemas.openxmlformats.org/officeDocument/2006/relationships/notesMaster" Target="/ppt/notesMasters/notesMaster1.xml" Id="R198387d7e060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11c6720da54743" /><Relationship Type="http://schemas.openxmlformats.org/officeDocument/2006/relationships/notesMaster" Target="/ppt/notesMasters/notesMaster1.xml" Id="Rb0d59195104f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089b77792348af" /><Relationship Type="http://schemas.openxmlformats.org/officeDocument/2006/relationships/notesMaster" Target="/ppt/notesMasters/notesMaster1.xml" Id="R21249abd58a540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a473e5036a4074" /><Relationship Type="http://schemas.openxmlformats.org/officeDocument/2006/relationships/notesMaster" Target="/ppt/notesMasters/notesMaster1.xml" Id="R23e10f103a1245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f9be57def468c" /><Relationship Type="http://schemas.openxmlformats.org/officeDocument/2006/relationships/notesMaster" Target="/ppt/notesMasters/notesMaster1.xml" Id="R3602fed5138046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57b584c62403e" /><Relationship Type="http://schemas.openxmlformats.org/officeDocument/2006/relationships/notesMaster" Target="/ppt/notesMasters/notesMaster1.xml" Id="Rcc96d21c351a43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README.md, engine/config.py, and dashboard/public/snapshot*.json. This project uses Alpaca paper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rationale and system thesis are documented in README.md and docs/WRITEUP.md.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README.md. Model routing source: engine/llm.py. Execution and management source: engine/executor.py and engine/manager.py.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strategist's tool loop and bounded output are described in README.md and docs/WRITEUP.md. Candidate construction and gate evaluation live in engine/structures.py and engine/risk.py.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verified from engine/config.py on 4 September 2026. Gate implementation source: engine/risk.py. All values refer to Alpaca paper 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Profiles and strategy variants are documented in README.md. Universe and sleeve configuration source: engine/config.py.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values come from the live dashboard screenshot captured at 10:18 ET on 4 September 2026. Test2 and test3 returns come from dashboard/public/snapshot-test2.json and snapshot-test3.json. Percent figures are displayed as percentage points, not decimal fractions. Paper trading results are not live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screenshot captured from the locally served current build on 4 September 2026. Public mirror: https://thesupermanish.github.io/superio-trading-agent/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https://github.com/TheSupermanish/superio-trading-agent. Public demo: https://thesupermanish.github.io/superio-trading-agent/. All performance shown in this deck comes from paper accounts over a short hackathon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764a546f6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35ca91911f4e8f" /><Relationship Type="http://schemas.openxmlformats.org/officeDocument/2006/relationships/slideLayout" Target="/ppt/slideLayouts/slideLayout1.xml" Id="R795325fbea69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5325fbea69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d1960baa74fad" /><Relationship Type="http://schemas.openxmlformats.org/officeDocument/2006/relationships/image" Target="/ppt/media/image.jpeg" Id="R94c8587e57d949fa" /><Relationship Type="http://schemas.openxmlformats.org/officeDocument/2006/relationships/notesSlide" Target="/ppt/notesSlides/notesSlide1.xml" Id="R621ddb40ad91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1917eee9a4599" /><Relationship Type="http://schemas.openxmlformats.org/officeDocument/2006/relationships/notesSlide" Target="/ppt/notesSlides/notesSlide2.xml" Id="R34fd97e40bd04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753b668f140db" /><Relationship Type="http://schemas.openxmlformats.org/officeDocument/2006/relationships/notesSlide" Target="/ppt/notesSlides/notesSlide3.xml" Id="R64ce6f433c56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af2a7e9ef4624" /><Relationship Type="http://schemas.openxmlformats.org/officeDocument/2006/relationships/notesSlide" Target="/ppt/notesSlides/notesSlide4.xml" Id="Rd061ff09f444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fab2698642cc" /><Relationship Type="http://schemas.openxmlformats.org/officeDocument/2006/relationships/notesSlide" Target="/ppt/notesSlides/notesSlide5.xml" Id="R8cab8da8cdc3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847c39734acb" /><Relationship Type="http://schemas.openxmlformats.org/officeDocument/2006/relationships/notesSlide" Target="/ppt/notesSlides/notesSlide6.xml" Id="R50cc3f4ad8a4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56fd19e0040ae" /><Relationship Type="http://schemas.openxmlformats.org/officeDocument/2006/relationships/chart" Target="/ppt/slides/charts/chart1.xml" Id="Ra5375577b5a944e8" /><Relationship Type="http://schemas.openxmlformats.org/officeDocument/2006/relationships/notesSlide" Target="/ppt/notesSlides/notesSlide7.xml" Id="R25719845210741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c5327b5ed46fb" /><Relationship Type="http://schemas.openxmlformats.org/officeDocument/2006/relationships/image" Target="/ppt/media/image.png" Id="Rffb408c81746475d" /><Relationship Type="http://schemas.openxmlformats.org/officeDocument/2006/relationships/notesSlide" Target="/ppt/notesSlides/notesSlide8.xml" Id="R341859a35db043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edccd973747a7" /><Relationship Type="http://schemas.openxmlformats.org/officeDocument/2006/relationships/notesSlide" Target="/ppt/notesSlides/notesSlide9.xml" Id="R66cf20483ff048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Return</c:v>
          </c:tx>
          <c:spPr>
            <a:solidFill xmlns:a="http://schemas.openxmlformats.org/drawingml/2006/main">
              <a:srgbClr val="FFBF1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D9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A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17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Barbell</c:v>
                </c:pt>
                <c:pt idx="1">
                  <c:v>Convex tilt</c:v>
                </c:pt>
                <c:pt idx="2">
                  <c:v>Income only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0.0145</c:v>
                </c:pt>
                <c:pt idx="1">
                  <c:v>0.0079</c:v>
                </c:pt>
                <c:pt idx="2">
                  <c:v>-0.0064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B10"/>
        </a:solidFill>
        <a:ln xmlns:a="http://schemas.openxmlformats.org/drawingml/2006/main" w="9525">
          <a:solidFill>
            <a:srgbClr val="202938"/>
          </a:solidFill>
        </a:ln>
      </c:spPr>
    </c:plotArea>
    <c:plotVisOnly val="1"/>
  </c:chart>
  <c:spPr>
    <a:solidFill xmlns:a="http://schemas.openxmlformats.org/drawingml/2006/main">
      <a:srgbClr val="090B10"/>
    </a:solidFill>
    <a:ln xmlns:a="http://schemas.openxmlformats.org/drawingml/2006/main" w="9525">
      <a:solidFill>
        <a:srgbClr val="20293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3101E-1375-483D-9DDC-1082FE1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D7EA1-3938-495D-A4D5-DB85695C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2438D-C3BD-40E3-9630-E2C3597B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B591B-D334-45C9-B4EF-453743E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87C20-9A88-4C5C-8434-6B16034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Autonomous options trading with deterministic risk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19AA1-2344-4B7C-AD08-F7171B9E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Gemini reads the market and selects an approved structure. Code controls every leg, size, limit, and exit.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8587e57d949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123950"/>
            <a:ext cx="2381250" cy="23812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CB1BD-95A7-423B-9B7C-B0ED5201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1DBC5-DE0E-448B-B179-1D6361A7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PAPER TRADING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43175-0D42-44B9-B465-FFFC97F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Nine ETFs across three independently managed paper 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6BD39-F30F-45E1-942F-EABA09ED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856001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89528-A94A-4285-9D26-0CBDC9D7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AB73-E17B-40D4-B589-4C53280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47024-6D1F-400A-8163-D34EA3B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B5EEB-4919-473E-868D-4A4EB3E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Models can read markets. Limits need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87EC-E726-468D-9321-265AFE4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 useful trading agent must reason under uncertainty without gaining authority over the account's safety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2EEC5-D14A-4063-ABE8-7E2BDA07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ABEEC-930E-4149-A715-F6E330D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AI IS GOOD 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E4BDE-AC42-46CA-A854-E9FDA70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Reading regime and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E711D-5CC8-4B98-9E55-ABCE605E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Interpreting news and catalysts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CDF8-A068-4D09-BD18-A4779CDA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Comparing strategy tradeoffs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E246D-4865-4DAA-806E-BF495DF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51291-0FD7-4BF2-8D7A-AE61866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CODE MUST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387BF-3254-45DF-A85B-BC6519A3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 and maximum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234DB-608C-4003-A61D-FDA853F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 and event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F65D0-3BE5-4BBD-BF98-1A4E108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Orders, exits, and kill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72468-D517-4102-9EA3-ED0F41D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Alphaca separates judgment from authority.</a:t>
            </a:r>
          </a:p>
        </p:txBody>
      </p:sp>
    </p:spTree>
    <p:extLst>
      <p:ext uri="{BB962C8B-B14F-4D97-AF65-F5344CB8AC3E}">
        <p14:creationId xmlns:p14="http://schemas.microsoft.com/office/powerpoint/2010/main" val="1295654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81B8A-0715-41B1-B806-8B92436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5049A-1ED9-40BE-A395-6F7826F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71D6E-7804-4E91-BE39-52D784C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20A7D-1700-4A28-A14F-A73C9216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Six roles turn market data into a managed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B88DD-AC23-46C2-90EB-CC22EBD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EE3AD-A550-4A33-A08B-C8A81746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6B1FD-C8E3-4B99-BB75-08E96620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02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CD984-F2FD-4F56-BF26-98F73F7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Measures trend, realized volatility, implied volatility, and their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8D3E5-04EC-45C7-9D99-443321B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38033-6E56-48A8-B131-D832AECE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25B42-1923-4E4C-B901-836D731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050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6FDB8-8383-44A9-B607-76A1C0D7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Uses Gemini with search grounding to capture news and scheduled catalysts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D8521-C5EC-4A58-800C-3F2DB9E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38BE7-28D6-44EA-9613-7817A9F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CEC6C-5CA8-44D1-9923-5CF7431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99806-CAD0-4FAA-BAA9-8C23410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Compares approved structures and returns a proposal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93990-4EA4-4E72-8AAA-A7683E7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6A2B6-75CD-4834-BC5F-7A79FD40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F5D3F-7CC7-4CD3-A0B4-873C86F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Risk officer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76184-B7CE-4BC7-A2B6-E957546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Applies deterministic gates and computes a safe 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A995D-AA47-42C1-8CA5-3DA10024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33B3B-BC33-4937-8C6E-A3DF9622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DE89A-6660-4FF1-B41A-3A991F9F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C6836-77B4-42F0-A4D4-DF8DCDF9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Places reproducible multi-leg orders through the Alpaca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4B5E6-2094-4DD0-AF58-8BFB1686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496F9-6EB6-4564-A63B-1327241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15948-494F-4D8F-ABEF-7BC3096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244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AAB8B-5107-4DB1-B358-90766C3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Monitors fills, profit targets, stops, and expiration safety</a:t>
            </a:r>
          </a:p>
        </p:txBody>
      </p:sp>
    </p:spTree>
    <p:extLst>
      <p:ext uri="{BB962C8B-B14F-4D97-AF65-F5344CB8AC3E}">
        <p14:creationId xmlns:p14="http://schemas.microsoft.com/office/powerpoint/2010/main" val="1942136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F9C7F-1CFA-4956-80D0-7741BDE6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A8150-1FCF-4881-BD81-8784FE4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CONTROL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E9B79-08FB-4C20-991B-20574E81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5C382-2A8F-4E41-A7FE-49209F04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2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strategist chooses from trades that already passed 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9953E-884D-4421-ACFF-280DED30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 model never emits a strike, quantity, price, or option leg.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57347-B1A4-4983-8136-98A31E01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6B37-BC16-44D0-AA49-C84CC715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1. CANDIDATE FACTORY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3BBFA-3867-4F7D-9458-B6405F34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Deterministic code builds defined-risk structures from the live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98C68-A62F-4C61-BD7B-E364A61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BE29E-CE3B-42E5-A819-0B4B117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A5737-76C5-4288-A767-C2494AD4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2. RISK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DB6CD-E274-4E61-8B96-2C871E3D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Each proposal receives a named approval or rejection before the model sees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07818-7F8C-4956-93AF-CB86D55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02828-9B6B-469B-A839-0378705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146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533E9-4D5F-4BC5-92BE-04BCCAD0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3.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A0B27-069B-4575-B301-FA4B017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Gemini returns an approved proposal ID or declines to trade.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431CA-9049-4FF3-B3BC-22FE8C0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95F57-2A93-47E7-A388-2FCCF0B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 confused model can choose a worse safe trade. It cannot create an unsafe one.</a:t>
            </a:r>
          </a:p>
        </p:txBody>
      </p:sp>
    </p:spTree>
    <p:extLst>
      <p:ext uri="{BB962C8B-B14F-4D97-AF65-F5344CB8AC3E}">
        <p14:creationId xmlns:p14="http://schemas.microsoft.com/office/powerpoint/2010/main" val="575659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6EB0DF-06F3-4F1A-8DE3-8C323CD9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B7D3F-C356-4016-BC73-8CB68DB8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RISK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E4A7D-C6A9-4238-A3A7-856A82DB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75FF8-3EDC-4191-9089-EA47A18D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Eight checks stand between an idea and an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4B20D-5F7E-4644-A3EA-0000F70A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Current barbell preset. Limits are explicit, tested, and journalled by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E1046-7554-4D4C-B7AF-A556CB8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A6BF3-325F-48A7-AC3B-A299765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E178-1F35-45DF-B121-0E7CD2F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Kill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9A398-615A-4C67-A182-1905D02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4% day loss, 10% total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94C30-BEF9-4A74-883F-374CC0C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C459C-B82C-4E28-A2EE-EFBFCF3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E7820-E842-4B21-9945-BA084F7A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Trade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27BA8-34D7-4874-A6A2-BE0B97D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7 new trades, 10 open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A04C-FB4C-47F1-B7B7-DB606402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27CE6-624F-4967-9A34-ACB5992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04D78-325D-4E66-8CFB-D4629DE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DCDD7-8572-4532-AA3A-20E64C59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Every short leg requires matching 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F80B5-F872-4CFC-B3A5-B4861C7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762C2-69BD-410E-A0E1-C53ECB3D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58911-1E7E-4DAB-9045-13205D89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09D51-5BC0-49B6-90A1-37913C4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Rejects wide or unusable quotes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523B1-C2E0-483B-925D-3115B5A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1A52A-26BB-48F8-9E8B-9CD1296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42376-3B69-4A8F-9A03-EBDEC84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0B301-B028-49F1-85ED-F55AA32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18% credit floor, 45% debit cap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B1B55-CED7-4B1E-A4FE-7A27FC1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8EAE9-3CD5-4017-90B0-751864C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BE5B2-735A-4A2A-A7A3-9676488E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Event blackout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A217B-FDC1-44F9-98D3-4F4D901B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Blocks premium selling across catalysts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864A4-C3BC-4A86-99FA-4BC1107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79FAD-839B-4AD1-8338-B34A74D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1FA1F-AF61-49B1-B656-224683E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C68A8-30F6-47E2-972F-5586E2FE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1% tactical, 1.25% carry per trade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AF3AA-37F9-4137-9281-EC3A0A7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7B401-BA2E-4939-8CF1-347CEDDC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95763B-EF4B-443E-8A3D-6229AB20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limits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0E2A1E-69F2-4C89-876F-02B23830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8% open risk with sleeve and symbol caps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0B974-6D64-47B0-8DFF-AE5CE1D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Naked short options are structurally impossible. No configuration flag disables the coverage rule.</a:t>
            </a:r>
          </a:p>
        </p:txBody>
      </p:sp>
    </p:spTree>
    <p:extLst>
      <p:ext uri="{BB962C8B-B14F-4D97-AF65-F5344CB8AC3E}">
        <p14:creationId xmlns:p14="http://schemas.microsoft.com/office/powerpoint/2010/main" val="1107638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AC212-7DC9-487D-A9EF-061E015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BBA37-BF87-4354-AB42-07A2C6C9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STRATEGY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2C5D7-4E2C-4BEC-AB0D-D872770B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73A4A-8FE7-4670-BAAA-1D76A8E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99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Three accounts test different sources of return on the same 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D62F8-2FB1-43EC-B638-884EF0A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5B250-568A-4D77-8F86-7B486D0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BARBELL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A1893-F04E-45E6-9C5D-5C2B91F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94687-4D56-4656-9C31-861E2762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4EC47-3AF1-4321-9883-89CFE16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Core income, convex trades, and financed carry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4743D-1180-4B21-9832-50E5C5BC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Best for changing volatility regimes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03221-2F4F-4902-A377-231452F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4207A-1B5E-488E-B8D4-92FF2220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CONVEX TILT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FE13D-D73A-46F6-B712-7BEC2AF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76EE6-8D69-40BE-B222-D2BBDF5E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44428-FA38-4B16-95FE-CFE8AB6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More budget for debit spreads and long gamma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9181F-085E-4D1E-947C-907F3CA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Benefits from large directional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C7D5D-4076-4648-BA28-C29A13F4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369CF-7BDB-4BE8-A135-8963C1B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INCOME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8897E-24E7-49A5-8D20-A9EA2C6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12202-97DE-4A1F-95B7-EE9E5D8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79DE0-6BDD-4A8C-92F4-ADA62187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Defined-risk premium selling without convexity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F7560-F52B-4CD2-9835-6D356C8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Tests whether volatility risk premium alone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F6C7E-1626-43C9-919C-3B2DB35E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Strategy set: credit spreads, debit spreads, iron condors, and financed risk reversals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8A675-BF3A-4AEE-A729-3077A43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Universe: SPY, QQQ, IWM, DIA, XLK, XLF, SMH, GLD, and TLT</a:t>
            </a:r>
          </a:p>
        </p:txBody>
      </p:sp>
    </p:spTree>
    <p:extLst>
      <p:ext uri="{BB962C8B-B14F-4D97-AF65-F5344CB8AC3E}">
        <p14:creationId xmlns:p14="http://schemas.microsoft.com/office/powerpoint/2010/main" val="1989440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702CD-B25F-4D35-A6B8-5DE67EC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44B0B-B6A8-4C72-9BB7-FA8E068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PAPER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62A61-E666-4B98-9B50-0607EDF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14F7-175C-4AC3-94C7-95791671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balanced account leads the live three-account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4DA0C-10CC-4C37-B165-F33DF0A0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Broker equity return as shown on 4 September 2026. The sample covers fewer than five sessions.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375577b5a944e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504A2-F482-4204-846F-5B6B629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24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-0.64%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CA13-9B01-4EDE-A4D9-060D74B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99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0.79%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4E79E-F0C1-4A56-AC87-53557C0F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5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1.45%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30CD9-CC69-403A-B67B-1037F16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000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840A9-307B-4E27-9100-BABC4BC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MAIN ACCOUNT EQUITY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EB372-7131-47B5-8BD5-32FF389C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$101,451.99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EBEE2-7AA7-4673-8802-0A7452F2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62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+$1,451.99 from $100,000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6EF7D-A431-4482-8B04-2ED5B010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PEAK EQUITY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14C1D-7BC4-4299-93FE-D395497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$101,965.56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36197-6682-47DD-8CFA-1C30F25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86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+1.97% intraday peak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A0894-D1FB-4726-8B83-A384547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MAXIMUM DRAWDOWN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9D129-3217-4F44-A31E-287FD6B9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0.69%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73D50-03EB-4E3B-BCFB-3BC4D07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Observed on the main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78593-AAD9-42AF-A853-CB46C4B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Paper results are experimental. They do not establish a durable edge.</a:t>
            </a:r>
          </a:p>
        </p:txBody>
      </p:sp>
    </p:spTree>
    <p:extLst>
      <p:ext uri="{BB962C8B-B14F-4D97-AF65-F5344CB8AC3E}">
        <p14:creationId xmlns:p14="http://schemas.microsoft.com/office/powerpoint/2010/main" val="112273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562D3-C56A-42AB-BF5C-6AF0E5F0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03226-869D-4514-8818-DC875FA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9E1C-9EED-48CB-A4A3-1E65FF04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947D1-0AC5-48A5-AFC3-D412AE12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Every fill, refusal, and risk decision is visible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408c81746475d"/>
          <a:srcRect xmlns:a="http://schemas.openxmlformats.org/drawingml/2006/main" l="0" t="4938" r="0" b="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24000"/>
            <a:ext cx="76771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14051-6DB0-4D78-9856-C0E62D1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PUBLIC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D558B-ED5D-48A2-B121-6F9912B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Live broker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95EB8-5503-4387-AD8F-B8F887B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Greeks and payoff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8D025-BC4F-4FFA-8E6B-9AC35DDE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Open and closed 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7157D-6043-4378-AFCE-F647A5F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Named rejection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27D32-BB9B-4472-B361-9D73B84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Stress tests and session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D716C-A203-481D-AFAB-0D38F59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Public link on the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768819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66CB1-EB90-4454-973C-C5F5608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EA013-0539-4976-9245-C63D8399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EDDAD-60AD-44B2-8752-41202649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B6113-E513-435D-ABD3-D5F2140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Autonomy without unchecked financial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147A6-3602-4231-AA10-EDD9209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 shows how an AI trading agent can act independently while deterministic software keeps control of account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02F84-0570-4D0B-A469-BD4CB2A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724DF-8AAA-4301-85B0-C8229735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MARKET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D5DA1-51A5-4F21-B30A-89DF8A3A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9 ETFs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8A63-0A76-41B5-A1F4-B9C757E2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Liquid equity, sector, commodity, and bond proxies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05C8-1266-438A-B5FE-C952773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PORTFOLIO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1357C-640D-441C-8B84-274F0636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B0E52-F07D-4184-9F91-4641259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Balanced, convex tilt, and income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E331C-8E53-48BA-93E6-A341F734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OPEN RISK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E4A34-B12F-4EFC-B59F-6676186B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08BB5-786E-4AF6-BD61-11DD2C4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Defined risk with a 10% drawdown stand-down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B0652-0C6E-43B2-9279-230A53B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47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A03D1-1850-40C0-B508-BD1CF50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7F50A-F5D2-4DC7-BF05-B5E3F088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github.com/TheSupermanish/superio-trading-agent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7D165-486A-43EA-87AC-B2BCD3AB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F4F34-C5FC-46C5-9B8E-4C512AA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46090-97E5-4AAF-9CB7-CD21E50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Built on Alpaca paper trading with Gemini, Vertex AI, Python, and Next.js</a:t>
            </a:r>
          </a:p>
        </p:txBody>
      </p:sp>
    </p:spTree>
    <p:extLst>
      <p:ext uri="{BB962C8B-B14F-4D97-AF65-F5344CB8AC3E}">
        <p14:creationId xmlns:p14="http://schemas.microsoft.com/office/powerpoint/2010/main" val="1419805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2026-09-04T14:16:45.7180000Z</dcterms:created>
  <dcterms:modified xsi:type="dcterms:W3CDTF">2026-09-04T14:16:45.7180000Z</dcterms:modified>
</coreProperties>
</file>